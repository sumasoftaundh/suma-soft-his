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5"/>
  </p:handoutMasterIdLst>
  <p:sldIdLst>
    <p:sldId id="260" r:id="rId3"/>
  </p:sldIdLst>
  <p:sldSz cx="9144000" cy="5143500" type="screen16x9"/>
  <p:notesSz cx="6858000" cy="9144000"/>
  <p:embeddedFontLst>
    <p:embeddedFont>
      <p:font typeface="Roboto Condensed Light" panose="02000000000000000000"/>
      <p:regular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92"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CCC"/>
    <a:srgbClr val="FFF3CD"/>
    <a:srgbClr val="C0DAAF"/>
    <a:srgbClr val="CAE8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71"/>
  </p:normalViewPr>
  <p:slideViewPr>
    <p:cSldViewPr snapToGrid="0">
      <p:cViewPr varScale="1">
        <p:scale>
          <a:sx n="79" d="100"/>
          <a:sy n="79" d="100"/>
        </p:scale>
        <p:origin x="848" y="48"/>
      </p:cViewPr>
      <p:guideLst>
        <p:guide orient="horz" pos="1592"/>
        <p:guide pos="28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font" Target="fonts/font1.fntdata"/><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font" Target="fonts/font2.fntdata"/><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12e9d26ec4b_1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0" name="Google Shape;630;g12e9d26ec4b_1_7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1" name="Google Shape;21;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2" name="Google Shape;2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8" name="Google Shape;28;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35;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 name="Google Shape;36;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 name="Google Shape;37;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38" name="Google Shape;3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p:txBody>
      </p:sp>
      <p:sp>
        <p:nvSpPr>
          <p:cNvPr id="41" name="Google Shape;41;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46"/>
        <p:cNvGrpSpPr/>
        <p:nvPr/>
      </p:nvGrpSpPr>
      <p:grpSpPr>
        <a:xfrm>
          <a:off x="0" y="0"/>
          <a:ext cx="0" cy="0"/>
          <a:chOff x="0" y="0"/>
          <a:chExt cx="0" cy="0"/>
        </a:xfrm>
      </p:grpSpPr>
      <p:sp>
        <p:nvSpPr>
          <p:cNvPr id="47" name="Google Shape;47;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p:txBody>
      </p:sp>
      <p:sp>
        <p:nvSpPr>
          <p:cNvPr id="48" name="Google Shape;48;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20329" y="292894"/>
            <a:ext cx="6815400" cy="5394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52" name="Google Shape;52;p13"/>
          <p:cNvSpPr txBox="1">
            <a:spLocks noGrp="1"/>
          </p:cNvSpPr>
          <p:nvPr>
            <p:ph type="body" idx="1"/>
          </p:nvPr>
        </p:nvSpPr>
        <p:spPr>
          <a:xfrm>
            <a:off x="0" y="0"/>
            <a:ext cx="2250000" cy="2250000"/>
          </a:xfrm>
          <a:prstGeom prst="rect">
            <a:avLst/>
          </a:prstGeom>
          <a:noFill/>
          <a:ln>
            <a:noFill/>
          </a:ln>
        </p:spPr>
        <p:txBody>
          <a:bodyPr spcFirstLastPara="1" wrap="square" lIns="68575" tIns="34275" rIns="68575" bIns="34275" anchor="t" anchorCtr="0">
            <a:normAutofit/>
          </a:bodyPr>
          <a:lstStyle>
            <a:lvl1pPr marL="457200" marR="0" lvl="0" indent="-431800" algn="l" rtl="0">
              <a:lnSpc>
                <a:spcPct val="115000"/>
              </a:lnSpc>
              <a:spcBef>
                <a:spcPts val="600"/>
              </a:spcBef>
              <a:spcAft>
                <a:spcPts val="0"/>
              </a:spcAft>
              <a:buClr>
                <a:schemeClr val="dk1"/>
              </a:buClr>
              <a:buSzPts val="3200"/>
              <a:buFont typeface="Arial" panose="020B0604020202020204"/>
              <a:buChar char="•"/>
              <a:defRPr sz="32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1pPr>
            <a:lvl2pPr marL="914400" marR="0" lvl="1" indent="-406400" algn="l" rtl="0">
              <a:lnSpc>
                <a:spcPct val="115000"/>
              </a:lnSpc>
              <a:spcBef>
                <a:spcPts val="600"/>
              </a:spcBef>
              <a:spcAft>
                <a:spcPts val="0"/>
              </a:spcAft>
              <a:buClr>
                <a:schemeClr val="dk1"/>
              </a:buClr>
              <a:buSzPts val="2800"/>
              <a:buFont typeface="Arial" panose="020B0604020202020204"/>
              <a:buChar char="–"/>
              <a:defRPr sz="2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2pPr>
            <a:lvl3pPr marL="1371600" marR="0" lvl="2" indent="-381000" algn="l" rtl="0">
              <a:lnSpc>
                <a:spcPct val="115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3pPr>
            <a:lvl4pPr marL="1828800" marR="0" lvl="3" indent="-355600" algn="l" rtl="0">
              <a:lnSpc>
                <a:spcPct val="115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4pPr>
            <a:lvl5pPr marL="2286000" marR="0" lvl="4" indent="-355600" algn="l" rtl="0">
              <a:lnSpc>
                <a:spcPct val="115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5pPr>
            <a:lvl6pPr marL="2743200" marR="0" lvl="5" indent="-355600" algn="l" rtl="0">
              <a:lnSpc>
                <a:spcPct val="115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6pPr>
            <a:lvl7pPr marL="3200400" marR="0" lvl="6" indent="-355600" algn="l" rtl="0">
              <a:lnSpc>
                <a:spcPct val="115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7pPr>
            <a:lvl8pPr marL="3657600" marR="0" lvl="7" indent="-355600" algn="l" rtl="0">
              <a:lnSpc>
                <a:spcPct val="115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8pPr>
            <a:lvl9pPr marL="4114800" marR="0" lvl="8" indent="-355600" algn="l" rtl="0">
              <a:lnSpc>
                <a:spcPct val="115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9pPr>
          </a:lstStyle>
          <a:p/>
        </p:txBody>
      </p:sp>
      <p:sp>
        <p:nvSpPr>
          <p:cNvPr id="53" name="Google Shape;53;p13"/>
          <p:cNvSpPr txBox="1">
            <a:spLocks noGrp="1"/>
          </p:cNvSpPr>
          <p:nvPr>
            <p:ph type="dt" idx="10"/>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1pPr>
            <a:lvl2pPr marR="0" lvl="1"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2pPr>
            <a:lvl3pPr marR="0" lvl="2"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3pPr>
            <a:lvl4pPr marR="0" lvl="3"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4pPr>
            <a:lvl5pPr marR="0" lvl="4"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5pPr>
            <a:lvl6pPr marR="0" lvl="5"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6pPr>
            <a:lvl7pPr marR="0" lvl="6"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7pPr>
            <a:lvl8pPr marR="0" lvl="7"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8pPr>
            <a:lvl9pPr marR="0" lvl="8"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9pPr>
          </a:lstStyle>
          <a:p/>
        </p:txBody>
      </p:sp>
      <p:sp>
        <p:nvSpPr>
          <p:cNvPr id="54" name="Google Shape;54;p13"/>
          <p:cNvSpPr txBox="1">
            <a:spLocks noGrp="1"/>
          </p:cNvSpPr>
          <p:nvPr>
            <p:ph type="ftr" idx="11"/>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1pPr>
            <a:lvl2pPr marR="0" lvl="1"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2pPr>
            <a:lvl3pPr marR="0" lvl="2"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3pPr>
            <a:lvl4pPr marR="0" lvl="3"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4pPr>
            <a:lvl5pPr marR="0" lvl="4"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5pPr>
            <a:lvl6pPr marR="0" lvl="5"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6pPr>
            <a:lvl7pPr marR="0" lvl="6"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7pPr>
            <a:lvl8pPr marR="0" lvl="7"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8pPr>
            <a:lvl9pPr marR="0" lvl="8" algn="l" rtl="0">
              <a:lnSpc>
                <a:spcPct val="100000"/>
              </a:lnSpc>
              <a:spcBef>
                <a:spcPts val="0"/>
              </a:spcBef>
              <a:spcAft>
                <a:spcPts val="0"/>
              </a:spcAft>
              <a:buClr>
                <a:srgbClr val="000000"/>
              </a:buClr>
              <a:buSzPts val="11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9pPr>
          </a:lstStyle>
          <a:p/>
        </p:txBody>
      </p:sp>
      <p:sp>
        <p:nvSpPr>
          <p:cNvPr id="55" name="Google Shape;55;p13"/>
          <p:cNvSpPr txBox="1">
            <a:spLocks noGrp="1"/>
          </p:cNvSpPr>
          <p:nvPr>
            <p:ph type="sldNum" idx="12"/>
          </p:nvPr>
        </p:nvSpPr>
        <p:spPr>
          <a:xfrm>
            <a:off x="0" y="0"/>
            <a:ext cx="2250000" cy="2250000"/>
          </a:xfrm>
          <a:prstGeom prst="rect">
            <a:avLst/>
          </a:prstGeom>
          <a:noFill/>
          <a:ln>
            <a:noFill/>
          </a:ln>
        </p:spPr>
        <p:txBody>
          <a:bodyPr spcFirstLastPara="1" wrap="square" lIns="68575" tIns="34275" rIns="68575" bIns="34275" anchor="t" anchorCtr="0">
            <a:normAutofit/>
          </a:bodyPr>
          <a:lstStyle>
            <a:lvl1pPr marL="0" marR="0" lvl="0"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1pPr>
            <a:lvl2pPr marL="0" marR="0" lvl="1"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2pPr>
            <a:lvl3pPr marL="0" marR="0" lvl="2"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3pPr>
            <a:lvl4pPr marL="0" marR="0" lvl="3"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4pPr>
            <a:lvl5pPr marL="0" marR="0" lvl="4"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5pPr>
            <a:lvl6pPr marL="0" marR="0" lvl="5"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6pPr>
            <a:lvl7pPr marL="0" marR="0" lvl="6"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7pPr>
            <a:lvl8pPr marL="0" marR="0" lvl="7"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8pPr>
            <a:lvl9pPr marL="0" marR="0" lvl="8" indent="0" algn="l" rtl="0">
              <a:lnSpc>
                <a:spcPct val="100000"/>
              </a:lnSpc>
              <a:spcBef>
                <a:spcPts val="0"/>
              </a:spcBef>
              <a:spcAft>
                <a:spcPts val="0"/>
              </a:spcAft>
              <a:buClr>
                <a:srgbClr val="000000"/>
              </a:buClr>
              <a:buSzPts val="1000"/>
              <a:buFont typeface="Arial" panose="020B0604020202020204"/>
              <a:buNone/>
              <a:defRPr sz="1800" b="0" i="0" u="none" strike="noStrike" cap="none">
                <a:solidFill>
                  <a:schemeClr val="dk1"/>
                </a:solidFill>
                <a:latin typeface="Roboto Condensed Light" panose="02000000000000000000"/>
                <a:ea typeface="Roboto Condensed Light" panose="02000000000000000000"/>
                <a:cs typeface="Roboto Condensed Light" panose="02000000000000000000"/>
                <a:sym typeface="Roboto Condensed Light" panose="02000000000000000000"/>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80"/>
          <p:cNvSpPr txBox="1">
            <a:spLocks noGrp="1"/>
          </p:cNvSpPr>
          <p:nvPr>
            <p:ph type="title"/>
          </p:nvPr>
        </p:nvSpPr>
        <p:spPr>
          <a:xfrm>
            <a:off x="260700" y="63775"/>
            <a:ext cx="6885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7000"/>
              <a:buNone/>
            </a:pPr>
            <a:r>
              <a:rPr lang="en-GB" sz="2120"/>
              <a:t>Creating a nudge: Making ABDM implementation easier - Consent Language</a:t>
            </a:r>
            <a:endParaRPr sz="2120"/>
          </a:p>
        </p:txBody>
      </p:sp>
      <p:sp>
        <p:nvSpPr>
          <p:cNvPr id="633" name="Google Shape;633;p80"/>
          <p:cNvSpPr txBox="1"/>
          <p:nvPr/>
        </p:nvSpPr>
        <p:spPr>
          <a:xfrm>
            <a:off x="150450" y="852300"/>
            <a:ext cx="8886300" cy="2813050"/>
          </a:xfrm>
          <a:prstGeom prst="rect">
            <a:avLst/>
          </a:prstGeom>
          <a:noFill/>
          <a:ln w="28575" cap="flat" cmpd="sng">
            <a:solidFill>
              <a:srgbClr val="B7B7B7"/>
            </a:solidFill>
            <a:prstDash val="dash"/>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 hereby declare that:</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 am voluntarily sharing my Aadhaar Number / Virtual ID issued by the Unique Identification Authority of India (“</a:t>
            </a:r>
            <a:r>
              <a:rPr lang="en-GB" sz="9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UIDAI</a:t>
            </a: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and my demographic information for the purpose of creating an Ayushman Bharat Health Account number (“</a:t>
            </a:r>
            <a:r>
              <a:rPr lang="en-GB" sz="9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ABHA number</a:t>
            </a: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and Ayushman Bharat Health Account address (“</a:t>
            </a:r>
            <a:r>
              <a:rPr lang="en-GB" sz="9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ABHA Address</a:t>
            </a: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I authorize NHA to use my Aadhaar number / Virtual ID for performing Aadhaar based authentication with UIDAI as per the provisions of the Aadhaar (Targeted Delivery of Financial and other Subsidies, Benefits and Services) Act, 2016 for the aforesaid purpose. I understand that UIDAI will share my e-KYC details, or response of “Yes” with NHA upon successful authentication.</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 consent to usage of my ABHA address and ABHA number for linking of my legacy (past) health records and those which will be generated during this encounter.</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 authorize the sharing of all my health records with healthcare provider(s) for the purpose of providing healthcare services to me during this encounter.</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 consent to the anonymization and subsequent use of my health records for public health purposes.</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85800" marR="0" lvl="0" indent="0" algn="just" rtl="0">
              <a:lnSpc>
                <a:spcPct val="107000"/>
              </a:lnSpc>
              <a:spcBef>
                <a:spcPts val="80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 </a:t>
            </a:r>
            <a:r>
              <a:rPr lang="en-GB" sz="900" b="0" i="1"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(name of healthcare worker- depending on the username used for logging in into the system)</a:t>
            </a: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confirm that I have duly informed and explained the beneficiary of the contents of consent for aforementioned purposes.</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85800" marR="0" lvl="0" indent="0" algn="just" rtl="0">
              <a:lnSpc>
                <a:spcPct val="107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 </a:t>
            </a:r>
            <a:r>
              <a:rPr lang="en-GB" sz="900" b="0" i="1"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(beneficiary name)</a:t>
            </a: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have been explained about the consent as stated above and hereby provide my consent for the aforementioned purposes.</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7000"/>
              </a:lnSpc>
              <a:spcBef>
                <a:spcPts val="0"/>
              </a:spcBef>
              <a:spcAft>
                <a:spcPts val="0"/>
              </a:spcAft>
              <a:buClr>
                <a:srgbClr val="000000"/>
              </a:buClr>
              <a:buSzPts val="900"/>
              <a:buFont typeface="Arial" panose="020B0604020202020204"/>
              <a:buNone/>
            </a:pPr>
            <a:r>
              <a:rPr lang="en-GB"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9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4" name="Google Shape;634;p80"/>
          <p:cNvSpPr txBox="1"/>
          <p:nvPr/>
        </p:nvSpPr>
        <p:spPr>
          <a:xfrm>
            <a:off x="705450" y="4468500"/>
            <a:ext cx="8331300" cy="675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900"/>
              <a:buFont typeface="Arial" panose="020B0604020202020204"/>
              <a:buNone/>
            </a:pPr>
            <a:endParaRPr sz="900" b="1" i="0" u="sng"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292100" algn="just" rtl="0">
              <a:lnSpc>
                <a:spcPct val="115000"/>
              </a:lnSpc>
              <a:spcBef>
                <a:spcPts val="0"/>
              </a:spcBef>
              <a:spcAft>
                <a:spcPts val="0"/>
              </a:spcAft>
              <a:buClr>
                <a:schemeClr val="dk1"/>
              </a:buClr>
              <a:buSzPts val="1000"/>
              <a:buFont typeface="Times New Roman" panose="02020603050405020304"/>
              <a:buAutoNum type="arabicPeriod"/>
            </a:pPr>
            <a:r>
              <a:rPr lang="en-GB" sz="1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Hospitals/facilities are advised to use double screens. One screen should face patients/relatives so that they can see the consent language.</a:t>
            </a:r>
            <a:endParaRPr sz="1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292100" algn="just" rtl="0">
              <a:lnSpc>
                <a:spcPct val="115000"/>
              </a:lnSpc>
              <a:spcBef>
                <a:spcPts val="0"/>
              </a:spcBef>
              <a:spcAft>
                <a:spcPts val="0"/>
              </a:spcAft>
              <a:buClr>
                <a:schemeClr val="dk1"/>
              </a:buClr>
              <a:buSzPts val="1000"/>
              <a:buFont typeface="Times New Roman" panose="02020603050405020304"/>
              <a:buAutoNum type="arabicPeriod"/>
            </a:pPr>
            <a:r>
              <a:rPr lang="en-GB" sz="1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Hospitals/facilities are advised to use local language for the aforementioned consent</a:t>
            </a:r>
            <a:endParaRPr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635" name="Google Shape;635;p80"/>
          <p:cNvCxnSpPr/>
          <p:nvPr/>
        </p:nvCxnSpPr>
        <p:spPr>
          <a:xfrm>
            <a:off x="204365" y="788875"/>
            <a:ext cx="8794500" cy="0"/>
          </a:xfrm>
          <a:prstGeom prst="straightConnector1">
            <a:avLst/>
          </a:prstGeom>
          <a:noFill/>
          <a:ln w="28575" cap="flat" cmpd="sng">
            <a:solidFill>
              <a:schemeClr val="dk2"/>
            </a:solidFill>
            <a:prstDash val="solid"/>
            <a:round/>
            <a:headEnd type="none" w="sm" len="sm"/>
            <a:tailEnd type="none" w="sm" len="sm"/>
          </a:ln>
        </p:spPr>
      </p:cxnSp>
      <p:pic>
        <p:nvPicPr>
          <p:cNvPr id="636" name="Google Shape;636;p80"/>
          <p:cNvPicPr preferRelativeResize="0"/>
          <p:nvPr/>
        </p:nvPicPr>
        <p:blipFill rotWithShape="1">
          <a:blip r:embed="rId1"/>
          <a:srcRect/>
          <a:stretch>
            <a:fillRect/>
          </a:stretch>
        </p:blipFill>
        <p:spPr>
          <a:xfrm>
            <a:off x="7607200" y="106488"/>
            <a:ext cx="1461575" cy="638225"/>
          </a:xfrm>
          <a:prstGeom prst="rect">
            <a:avLst/>
          </a:prstGeom>
          <a:noFill/>
          <a:ln>
            <a:noFill/>
          </a:ln>
        </p:spPr>
      </p:pic>
      <p:pic>
        <p:nvPicPr>
          <p:cNvPr id="638" name="Google Shape;638;p80"/>
          <p:cNvPicPr preferRelativeResize="0"/>
          <p:nvPr/>
        </p:nvPicPr>
        <p:blipFill rotWithShape="1">
          <a:blip r:embed="rId2"/>
          <a:srcRect/>
          <a:stretch>
            <a:fillRect/>
          </a:stretch>
        </p:blipFill>
        <p:spPr>
          <a:xfrm>
            <a:off x="419419" y="1079550"/>
            <a:ext cx="209500" cy="209475"/>
          </a:xfrm>
          <a:prstGeom prst="rect">
            <a:avLst/>
          </a:prstGeom>
          <a:noFill/>
          <a:ln>
            <a:noFill/>
          </a:ln>
        </p:spPr>
      </p:pic>
      <p:pic>
        <p:nvPicPr>
          <p:cNvPr id="639" name="Google Shape;639;p80"/>
          <p:cNvPicPr preferRelativeResize="0"/>
          <p:nvPr/>
        </p:nvPicPr>
        <p:blipFill rotWithShape="1">
          <a:blip r:embed="rId2"/>
          <a:srcRect/>
          <a:stretch>
            <a:fillRect/>
          </a:stretch>
        </p:blipFill>
        <p:spPr>
          <a:xfrm>
            <a:off x="419419" y="2222550"/>
            <a:ext cx="209500" cy="209475"/>
          </a:xfrm>
          <a:prstGeom prst="rect">
            <a:avLst/>
          </a:prstGeom>
          <a:noFill/>
          <a:ln>
            <a:noFill/>
          </a:ln>
        </p:spPr>
      </p:pic>
      <p:pic>
        <p:nvPicPr>
          <p:cNvPr id="640" name="Google Shape;640;p80"/>
          <p:cNvPicPr preferRelativeResize="0"/>
          <p:nvPr/>
        </p:nvPicPr>
        <p:blipFill rotWithShape="1">
          <a:blip r:embed="rId2"/>
          <a:srcRect/>
          <a:stretch>
            <a:fillRect/>
          </a:stretch>
        </p:blipFill>
        <p:spPr>
          <a:xfrm>
            <a:off x="419419" y="2527350"/>
            <a:ext cx="209500" cy="209475"/>
          </a:xfrm>
          <a:prstGeom prst="rect">
            <a:avLst/>
          </a:prstGeom>
          <a:noFill/>
          <a:ln>
            <a:noFill/>
          </a:ln>
        </p:spPr>
      </p:pic>
      <p:pic>
        <p:nvPicPr>
          <p:cNvPr id="641" name="Google Shape;641;p80"/>
          <p:cNvPicPr preferRelativeResize="0"/>
          <p:nvPr/>
        </p:nvPicPr>
        <p:blipFill rotWithShape="1">
          <a:blip r:embed="rId2"/>
          <a:srcRect/>
          <a:stretch>
            <a:fillRect/>
          </a:stretch>
        </p:blipFill>
        <p:spPr>
          <a:xfrm>
            <a:off x="627699" y="2832150"/>
            <a:ext cx="209500" cy="209475"/>
          </a:xfrm>
          <a:prstGeom prst="rect">
            <a:avLst/>
          </a:prstGeom>
          <a:noFill/>
          <a:ln>
            <a:noFill/>
          </a:ln>
        </p:spPr>
      </p:pic>
      <p:pic>
        <p:nvPicPr>
          <p:cNvPr id="642" name="Google Shape;642;p80"/>
          <p:cNvPicPr preferRelativeResize="0"/>
          <p:nvPr/>
        </p:nvPicPr>
        <p:blipFill rotWithShape="1">
          <a:blip r:embed="rId3"/>
          <a:srcRect/>
          <a:stretch>
            <a:fillRect/>
          </a:stretch>
        </p:blipFill>
        <p:spPr>
          <a:xfrm>
            <a:off x="418790" y="1917998"/>
            <a:ext cx="209500" cy="209500"/>
          </a:xfrm>
          <a:prstGeom prst="rect">
            <a:avLst/>
          </a:prstGeom>
          <a:noFill/>
          <a:ln>
            <a:noFill/>
          </a:ln>
        </p:spPr>
      </p:pic>
      <p:pic>
        <p:nvPicPr>
          <p:cNvPr id="643" name="Google Shape;643;p80"/>
          <p:cNvPicPr preferRelativeResize="0"/>
          <p:nvPr/>
        </p:nvPicPr>
        <p:blipFill rotWithShape="1">
          <a:blip r:embed="rId3"/>
          <a:srcRect/>
          <a:stretch>
            <a:fillRect/>
          </a:stretch>
        </p:blipFill>
        <p:spPr>
          <a:xfrm>
            <a:off x="628340" y="3288788"/>
            <a:ext cx="209500" cy="209500"/>
          </a:xfrm>
          <a:prstGeom prst="rect">
            <a:avLst/>
          </a:prstGeom>
          <a:noFill/>
          <a:ln>
            <a:noFill/>
          </a:ln>
        </p:spPr>
      </p:pic>
      <p:sp>
        <p:nvSpPr>
          <p:cNvPr id="644" name="Google Shape;644;p80"/>
          <p:cNvSpPr txBox="1"/>
          <p:nvPr/>
        </p:nvSpPr>
        <p:spPr>
          <a:xfrm>
            <a:off x="260700" y="4714125"/>
            <a:ext cx="6462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100" b="1" i="0" u="none" strike="noStrike" cap="none">
                <a:solidFill>
                  <a:srgbClr val="000000"/>
                </a:solidFill>
                <a:latin typeface="Arial" panose="020B0604020202020204"/>
                <a:ea typeface="Arial" panose="020B0604020202020204"/>
                <a:cs typeface="Arial" panose="020B0604020202020204"/>
                <a:sym typeface="Arial" panose="020B0604020202020204"/>
              </a:rPr>
              <a:t>Note:</a:t>
            </a:r>
            <a:endParaRPr sz="11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1759</Words>
  <Application>WPS Presentation</Application>
  <PresentationFormat>On-screen Show (16:9)</PresentationFormat>
  <Paragraphs>21</Paragraphs>
  <Slides>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SimSun</vt:lpstr>
      <vt:lpstr>Wingdings</vt:lpstr>
      <vt:lpstr>Arial</vt:lpstr>
      <vt:lpstr>Roboto Condensed Light</vt:lpstr>
      <vt:lpstr>Times New Roman</vt:lpstr>
      <vt:lpstr>Microsoft YaHei</vt:lpstr>
      <vt:lpstr>Arial Unicode MS</vt:lpstr>
      <vt:lpstr>Simple Light</vt:lpstr>
      <vt:lpstr>Creating a nudge: Making ABDM implementation easier - Consent Language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Sayali Gawade</cp:lastModifiedBy>
  <cp:revision>26</cp:revision>
  <dcterms:created xsi:type="dcterms:W3CDTF">2024-10-09T06:38:00Z</dcterms:created>
  <dcterms:modified xsi:type="dcterms:W3CDTF">2024-10-11T05:57:18Z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1033-12.2.0.17153</vt:lpwstr>
  </property>
  <property fmtid="{D5CDD505-2E9C-101B-9397-08002B2CF9AE}" pid="3" name="ICV">
    <vt:lpwstr>B48AA3A9BD5741D3A24D8544BB68759D_12</vt:lpwstr>
  </property>
</Properties>
</file>